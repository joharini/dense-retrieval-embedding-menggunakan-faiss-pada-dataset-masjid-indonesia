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eague Spartan" panose="020B0604020202020204" charset="0"/>
      <p:regular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old" panose="0000080000000000000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18527" y="-1745836"/>
            <a:ext cx="6304087" cy="6304087"/>
          </a:xfrm>
          <a:custGeom>
            <a:avLst/>
            <a:gdLst/>
            <a:ahLst/>
            <a:cxnLst/>
            <a:rect l="l" t="t" r="r" b="b"/>
            <a:pathLst>
              <a:path w="6304087" h="6304087">
                <a:moveTo>
                  <a:pt x="0" y="0"/>
                </a:moveTo>
                <a:lnTo>
                  <a:pt x="6304087" y="0"/>
                </a:lnTo>
                <a:lnTo>
                  <a:pt x="6304087" y="6304087"/>
                </a:lnTo>
                <a:lnTo>
                  <a:pt x="0" y="6304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152044" y="6693351"/>
            <a:ext cx="6304087" cy="6304087"/>
          </a:xfrm>
          <a:custGeom>
            <a:avLst/>
            <a:gdLst/>
            <a:ahLst/>
            <a:cxnLst/>
            <a:rect l="l" t="t" r="r" b="b"/>
            <a:pathLst>
              <a:path w="6304087" h="6304087">
                <a:moveTo>
                  <a:pt x="0" y="0"/>
                </a:moveTo>
                <a:lnTo>
                  <a:pt x="6304088" y="0"/>
                </a:lnTo>
                <a:lnTo>
                  <a:pt x="6304088" y="6304087"/>
                </a:lnTo>
                <a:lnTo>
                  <a:pt x="0" y="6304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582766" y="8637780"/>
            <a:ext cx="371170" cy="1479303"/>
          </a:xfrm>
          <a:custGeom>
            <a:avLst/>
            <a:gdLst/>
            <a:ahLst/>
            <a:cxnLst/>
            <a:rect l="l" t="t" r="r" b="b"/>
            <a:pathLst>
              <a:path w="371170" h="1479303">
                <a:moveTo>
                  <a:pt x="0" y="0"/>
                </a:moveTo>
                <a:lnTo>
                  <a:pt x="371171" y="0"/>
                </a:lnTo>
                <a:lnTo>
                  <a:pt x="371171" y="1479303"/>
                </a:lnTo>
                <a:lnTo>
                  <a:pt x="0" y="1479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8351" y="1273416"/>
            <a:ext cx="11022136" cy="128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49"/>
              </a:lnSpc>
              <a:spcBef>
                <a:spcPct val="0"/>
              </a:spcBef>
            </a:pPr>
            <a:r>
              <a:rPr lang="en-US" sz="7535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DENSE RETRIEVAL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888" y="2482796"/>
            <a:ext cx="13699007" cy="1621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147"/>
              </a:lnSpc>
              <a:spcBef>
                <a:spcPct val="0"/>
              </a:spcBef>
            </a:pPr>
            <a:r>
              <a:rPr lang="en-US" sz="939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EMBEDDING &amp; FAISS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38189" y="6096570"/>
            <a:ext cx="10211621" cy="3261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Mata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Kuliah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Advanced Information Retrieval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Nama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Anggota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Kelompok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2: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Joharini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Farizal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Ginanjar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Feri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Stya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Heryanto</a:t>
            </a:r>
            <a:endParaRPr lang="en-US" sz="2400" spc="4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Dosen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Pengampu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Bapak Zico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Pratama</a:t>
            </a:r>
            <a:r>
              <a:rPr lang="en-US" sz="2400" spc="4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Putra, S.T., M.Sc., </a:t>
            </a:r>
            <a:r>
              <a:rPr lang="en-US" sz="2400" spc="4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Ph.D</a:t>
            </a:r>
            <a:endParaRPr lang="en-US" sz="2400" spc="4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41220" y="9220200"/>
            <a:ext cx="5118080" cy="26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9"/>
              </a:lnSpc>
            </a:pPr>
            <a:r>
              <a:rPr lang="en-US" sz="15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Kelompok 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723116" y="5826725"/>
            <a:ext cx="111944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F274CB-42B2-4291-A9D8-7E67DE661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1501"/>
            <a:ext cx="1219200" cy="1142036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3296C3F1-9259-4BCD-A1EF-2C6141B03F98}"/>
              </a:ext>
            </a:extLst>
          </p:cNvPr>
          <p:cNvSpPr txBox="1"/>
          <p:nvPr/>
        </p:nvSpPr>
        <p:spPr>
          <a:xfrm>
            <a:off x="1768351" y="4123809"/>
            <a:ext cx="10042649" cy="1179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4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Pada Dataset Masjid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4" name="TextBox 3"/>
          <p:cNvSpPr txBox="1"/>
          <p:nvPr/>
        </p:nvSpPr>
        <p:spPr>
          <a:xfrm>
            <a:off x="754380" y="219457"/>
            <a:ext cx="15087600" cy="31547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dirty="0">
                <a:solidFill>
                  <a:srgbClr val="16A08A"/>
                </a:solidFill>
                <a:latin typeface="Calibri"/>
              </a:rP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" y="832826"/>
            <a:ext cx="15910560" cy="638636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dirty="0" err="1">
                <a:solidFill>
                  <a:srgbClr val="FFFFFF"/>
                </a:solidFill>
                <a:latin typeface="Calibri"/>
              </a:rPr>
              <a:t>Latar</a:t>
            </a:r>
            <a:r>
              <a:rPr sz="3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</a:rPr>
              <a:t>Belakang</a:t>
            </a:r>
            <a:r>
              <a:rPr sz="3900" b="1" dirty="0">
                <a:solidFill>
                  <a:srgbClr val="FFFFFF"/>
                </a:solidFill>
                <a:latin typeface="Calibri"/>
              </a:rPr>
              <a:t> &amp; </a:t>
            </a:r>
            <a:r>
              <a:rPr sz="3900" b="1" dirty="0" err="1">
                <a:solidFill>
                  <a:srgbClr val="FFFFFF"/>
                </a:solidFill>
                <a:latin typeface="Calibri"/>
              </a:rPr>
              <a:t>Tujuan</a:t>
            </a:r>
            <a:endParaRPr sz="3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TextBox 7"/>
          <p:cNvSpPr txBox="1"/>
          <p:nvPr/>
        </p:nvSpPr>
        <p:spPr>
          <a:xfrm>
            <a:off x="1371600" y="2537461"/>
            <a:ext cx="7269480" cy="361637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dirty="0">
                <a:solidFill>
                  <a:srgbClr val="1E5F99"/>
                </a:solidFill>
                <a:latin typeface="Calibri"/>
              </a:rPr>
              <a:t>LATAR BELAKANG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537461"/>
            <a:ext cx="7269480" cy="361637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dirty="0">
                <a:solidFill>
                  <a:srgbClr val="E89B1C"/>
                </a:solidFill>
                <a:latin typeface="Calibri"/>
              </a:rPr>
              <a:t>TUJUAN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AA7397BB-F90B-4633-A69D-33331C1C7D69}"/>
              </a:ext>
            </a:extLst>
          </p:cNvPr>
          <p:cNvSpPr txBox="1"/>
          <p:nvPr/>
        </p:nvSpPr>
        <p:spPr>
          <a:xfrm>
            <a:off x="9472445" y="5106025"/>
            <a:ext cx="8138945" cy="1604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Alur: 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Dataset → Preprocessing → Generate Embedding → Build FAISS Index → Semantic Search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C103AA-7FB1-4502-9C08-65D829BF9346}"/>
              </a:ext>
            </a:extLst>
          </p:cNvPr>
          <p:cNvSpPr txBox="1"/>
          <p:nvPr/>
        </p:nvSpPr>
        <p:spPr>
          <a:xfrm>
            <a:off x="949487" y="3588453"/>
            <a:ext cx="8023860" cy="356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Dataset masjid Indonesia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berjumlah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243.831 </a:t>
            </a:r>
            <a:r>
              <a:rPr lang="en-ID" sz="2400" b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dokumen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lexical search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TF-IDF dan BM25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dikerjakan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endParaRPr lang="en-ID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2400" dirty="0" err="1">
                <a:effectLst/>
                <a:ea typeface="Times New Roman" panose="02020603050405020304" pitchFamily="18" charset="0"/>
              </a:rPr>
              <a:t>Kelompok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2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melanjutkan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penelitian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menggunakan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ID" sz="2400" b="1" dirty="0">
                <a:effectLst/>
                <a:ea typeface="Times New Roman" panose="02020603050405020304" pitchFamily="18" charset="0"/>
              </a:rPr>
              <a:t>Dense Retrieval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agar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sistem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dapat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memahami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makna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(semantic) </a:t>
            </a:r>
            <a:r>
              <a:rPr lang="en-ID" sz="2400" dirty="0" err="1">
                <a:effectLst/>
                <a:ea typeface="Times New Roman" panose="02020603050405020304" pitchFamily="18" charset="0"/>
              </a:rPr>
              <a:t>dari</a:t>
            </a:r>
            <a:r>
              <a:rPr lang="en-ID" sz="2400" dirty="0">
                <a:effectLst/>
                <a:ea typeface="Times New Roman" panose="02020603050405020304" pitchFamily="18" charset="0"/>
              </a:rPr>
              <a:t> query</a:t>
            </a:r>
            <a:endParaRPr lang="en-ID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AF8FE-FF36-4794-B932-8F04C9BCC9DB}"/>
              </a:ext>
            </a:extLst>
          </p:cNvPr>
          <p:cNvSpPr txBox="1"/>
          <p:nvPr/>
        </p:nvSpPr>
        <p:spPr>
          <a:xfrm>
            <a:off x="9472445" y="3548475"/>
            <a:ext cx="8138944" cy="86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Semantic Search </a:t>
            </a:r>
            <a:r>
              <a:rPr lang="en-ID" sz="24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embedding modern dan FAISS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pencarian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cepat</a:t>
            </a:r>
            <a:r>
              <a:rPr lang="en-ID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65CDDBE0-66E2-4279-A5EE-EAA7D1EB23DD}"/>
              </a:ext>
            </a:extLst>
          </p:cNvPr>
          <p:cNvSpPr txBox="1"/>
          <p:nvPr/>
        </p:nvSpPr>
        <p:spPr>
          <a:xfrm>
            <a:off x="754380" y="657600"/>
            <a:ext cx="9597440" cy="82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9"/>
              </a:lnSpc>
            </a:pPr>
            <a:r>
              <a:rPr lang="en-US" sz="547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52A34EB5-24C4-4D39-A1A9-B605E65F1545}"/>
              </a:ext>
            </a:extLst>
          </p:cNvPr>
          <p:cNvSpPr txBox="1"/>
          <p:nvPr/>
        </p:nvSpPr>
        <p:spPr>
          <a:xfrm>
            <a:off x="1310503" y="2517649"/>
            <a:ext cx="7833269" cy="326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Sumber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&amp;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Struktur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Dataset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Sumber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Hasil preprocessing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Kelompok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1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Jumlah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243.831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Format: CSV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terstruktur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sudah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dibersihkan</a:t>
            </a: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Fokus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Dense Retrieval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berbasis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semantic embedding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endParaRPr lang="en-US" sz="24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68903A4D-EB10-4AFF-A7D1-EABE3AC19905}"/>
              </a:ext>
            </a:extLst>
          </p:cNvPr>
          <p:cNvSpPr txBox="1"/>
          <p:nvPr/>
        </p:nvSpPr>
        <p:spPr>
          <a:xfrm>
            <a:off x="10799906" y="2005148"/>
            <a:ext cx="7471689" cy="733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Kolom Utama Dataset: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Name  = Nama masjid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Address = Alamat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lengkap</a:t>
            </a:r>
            <a:endParaRPr lang="en-US" sz="20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Provinsi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 = Wilayah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provinsi</a:t>
            </a:r>
            <a:endParaRPr lang="en-US" sz="20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Kab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/Kota = 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Kabupaten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atau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kota</a:t>
            </a:r>
            <a:endParaRPr lang="en-US" sz="20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Kecamatan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= Tingkat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kecamatan</a:t>
            </a:r>
            <a:endParaRPr lang="en-US" sz="20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Mosque Type  =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Jenis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/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kategori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masjid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Rating =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Penilaian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masjid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Review = paling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banyak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ulasan</a:t>
            </a:r>
            <a:endParaRPr lang="en-US" sz="20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Latitude = garis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lintang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• Longitude = garis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bujur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(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sistem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koordinat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geografis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utk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menentukan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lokasi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suatu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tempat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)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endParaRPr lang="en-US" sz="20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dirty="0">
                <a:ea typeface="Montserrat"/>
                <a:cs typeface="Montserrat"/>
                <a:sym typeface="Montserrat"/>
              </a:rPr>
              <a:t>Dataset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telah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melalui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tahap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preprocessing oleh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Kelompok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1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sehingga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siap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digunakan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proses generate embedding dan indexing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FAISS pada pipeline Dense Retrieval.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63CB11-3C46-4EA2-90A7-35C96E2A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" y="7200900"/>
            <a:ext cx="10533886" cy="17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726027" y="2097909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7B59FC30-9B8B-4957-B966-B3EB28253F46}"/>
              </a:ext>
            </a:extLst>
          </p:cNvPr>
          <p:cNvSpPr txBox="1"/>
          <p:nvPr/>
        </p:nvSpPr>
        <p:spPr>
          <a:xfrm>
            <a:off x="981385" y="535245"/>
            <a:ext cx="97664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169"/>
              </a:lnSpc>
            </a:pPr>
            <a:r>
              <a:rPr lang="en-US" sz="597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METODE PENELITIAN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7C0169C-74A2-4A7A-85F3-34C4B026CA67}"/>
              </a:ext>
            </a:extLst>
          </p:cNvPr>
          <p:cNvSpPr txBox="1"/>
          <p:nvPr/>
        </p:nvSpPr>
        <p:spPr>
          <a:xfrm>
            <a:off x="1600200" y="2441449"/>
            <a:ext cx="3657600" cy="653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13"/>
              </a:lnSpc>
              <a:spcBef>
                <a:spcPct val="0"/>
              </a:spcBef>
            </a:pPr>
            <a:r>
              <a:rPr lang="en-US" sz="3937" b="1" dirty="0">
                <a:latin typeface="Montserrat Bold"/>
                <a:ea typeface="Montserrat Bold"/>
                <a:cs typeface="Montserrat Bold"/>
                <a:sym typeface="Montserrat Bold"/>
              </a:rPr>
              <a:t>TAHAPAN 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A103F11-FC58-4C6C-BB2A-242B7067697C}"/>
              </a:ext>
            </a:extLst>
          </p:cNvPr>
          <p:cNvSpPr txBox="1"/>
          <p:nvPr/>
        </p:nvSpPr>
        <p:spPr>
          <a:xfrm>
            <a:off x="1625009" y="3587496"/>
            <a:ext cx="4035580" cy="2712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9798" lvl="1" indent="-15489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Load Dataset</a:t>
            </a:r>
          </a:p>
          <a:p>
            <a:pPr marL="309798" lvl="1" indent="-15489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Generate Embedding</a:t>
            </a:r>
          </a:p>
          <a:p>
            <a:pPr marL="309798" lvl="1" indent="-15489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Build FAISS Index</a:t>
            </a:r>
          </a:p>
          <a:p>
            <a:pPr marL="309798" lvl="1" indent="-15489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Dense Search</a:t>
            </a:r>
          </a:p>
          <a:p>
            <a:pPr marL="309798" lvl="1" indent="-15489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Evaluasi</a:t>
            </a:r>
            <a:endParaRPr lang="en-US" sz="24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F7B250E-28D0-4644-B6A8-E3C2EB4B3768}"/>
              </a:ext>
            </a:extLst>
          </p:cNvPr>
          <p:cNvSpPr txBox="1"/>
          <p:nvPr/>
        </p:nvSpPr>
        <p:spPr>
          <a:xfrm>
            <a:off x="10175188" y="2312429"/>
            <a:ext cx="6478942" cy="653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13"/>
              </a:lnSpc>
              <a:spcBef>
                <a:spcPct val="0"/>
              </a:spcBef>
            </a:pPr>
            <a:r>
              <a:rPr lang="en-US" sz="3937" b="1" dirty="0">
                <a:latin typeface="Montserrat Bold"/>
                <a:ea typeface="Montserrat Bold"/>
                <a:cs typeface="Montserrat Bold"/>
                <a:sym typeface="Montserrat Bold"/>
              </a:rPr>
              <a:t>MODEL EMBEDDING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2E711A70-30B6-4113-B1F0-B450B0646E96}"/>
              </a:ext>
            </a:extLst>
          </p:cNvPr>
          <p:cNvSpPr txBox="1"/>
          <p:nvPr/>
        </p:nvSpPr>
        <p:spPr>
          <a:xfrm>
            <a:off x="8311083" y="3556378"/>
            <a:ext cx="4873500" cy="25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BGE-M3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Model multilingual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berbasis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BERT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besar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Unggul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dalam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pemahaman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semantik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lintas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bahasa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representasi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vektor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kaya.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0D1F0079-9023-4215-BE13-1D07F227F8A3}"/>
              </a:ext>
            </a:extLst>
          </p:cNvPr>
          <p:cNvSpPr txBox="1"/>
          <p:nvPr/>
        </p:nvSpPr>
        <p:spPr>
          <a:xfrm>
            <a:off x="8311083" y="6531782"/>
            <a:ext cx="4873500" cy="25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E5-Large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Model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teks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besar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dari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Microsoft.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Dirancang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retrieval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semantik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performa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pada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berbagai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dataset.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36560085-2134-4546-938D-0F570A7D34E1}"/>
              </a:ext>
            </a:extLst>
          </p:cNvPr>
          <p:cNvSpPr txBox="1"/>
          <p:nvPr/>
        </p:nvSpPr>
        <p:spPr>
          <a:xfrm>
            <a:off x="13245645" y="3551948"/>
            <a:ext cx="4873500" cy="25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2400" b="1" dirty="0" err="1">
                <a:ea typeface="Montserrat Heavy"/>
                <a:cs typeface="Montserrat Heavy"/>
                <a:sym typeface="Montserrat Heavy"/>
              </a:rPr>
              <a:t>MPNet</a:t>
            </a:r>
            <a:endParaRPr lang="en-US" sz="2400" b="1" dirty="0">
              <a:ea typeface="Montserrat Heavy"/>
              <a:cs typeface="Montserrat Heavy"/>
              <a:sym typeface="Montserrat Heavy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Model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dari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Microsoft yang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menggabungkan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kelebihan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BERT dan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XLNet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Menghasilkan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representasi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kontekstual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yang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akurat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691AEFF6-55FA-4864-9E39-387975BEF3ED}"/>
              </a:ext>
            </a:extLst>
          </p:cNvPr>
          <p:cNvSpPr txBox="1"/>
          <p:nvPr/>
        </p:nvSpPr>
        <p:spPr>
          <a:xfrm>
            <a:off x="13245645" y="6530950"/>
            <a:ext cx="4873500" cy="2517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2400" b="1" dirty="0" err="1">
                <a:ea typeface="Montserrat Heavy"/>
                <a:cs typeface="Montserrat Heavy"/>
                <a:sym typeface="Montserrat Heavy"/>
              </a:rPr>
              <a:t>MiniLM</a:t>
            </a:r>
            <a:endParaRPr lang="en-US" sz="2400" b="1" dirty="0">
              <a:ea typeface="Montserrat Heavy"/>
              <a:cs typeface="Montserrat Heavy"/>
              <a:sym typeface="Montserrat Heavy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Model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ringan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dan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cepat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 Ideal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dataset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besar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seperti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243.831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masjid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efisiensi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komputasi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917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20168" y="2158352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ID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A11BFD14-0A4D-4CC6-AB6A-1E30D4FC07DD}"/>
              </a:ext>
            </a:extLst>
          </p:cNvPr>
          <p:cNvSpPr txBox="1"/>
          <p:nvPr/>
        </p:nvSpPr>
        <p:spPr>
          <a:xfrm>
            <a:off x="-749400" y="596429"/>
            <a:ext cx="1144290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5"/>
              </a:lnSpc>
            </a:pPr>
            <a:r>
              <a:rPr lang="en-US" sz="559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GENERATE EMBEDDING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A286C-C8FB-4FC3-BA49-61CBF0B7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545" y="3478721"/>
            <a:ext cx="11758554" cy="509811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B1E83B8-E370-4B2B-A435-1508F1E3E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68" y="1888558"/>
            <a:ext cx="144779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Embedding </a:t>
            </a:r>
            <a:r>
              <a:rPr lang="en-US" altLang="en-US" sz="2400" dirty="0" err="1"/>
              <a:t>mengubah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dokumen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(name)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menjadi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vektor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Numerik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sehingga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dapat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diproses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FAISS. 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Proses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berjalan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 model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secara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berurutan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2965D-CD46-46E1-AA6B-D962614A2BB9}"/>
              </a:ext>
            </a:extLst>
          </p:cNvPr>
          <p:cNvSpPr txBox="1"/>
          <p:nvPr/>
        </p:nvSpPr>
        <p:spPr>
          <a:xfrm>
            <a:off x="1169421" y="3094646"/>
            <a:ext cx="2032591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ID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7EE42D-DFBC-4361-B713-D3FD47FC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38" y="3784334"/>
            <a:ext cx="3367873" cy="14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7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62926A8-1CFA-4912-94C3-6002FAB676A3}"/>
              </a:ext>
            </a:extLst>
          </p:cNvPr>
          <p:cNvSpPr txBox="1"/>
          <p:nvPr/>
        </p:nvSpPr>
        <p:spPr>
          <a:xfrm>
            <a:off x="754380" y="565629"/>
            <a:ext cx="884682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169"/>
              </a:lnSpc>
            </a:pPr>
            <a:r>
              <a:rPr lang="en-US" sz="597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 FAISS INDEX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8DF30EB-4CF2-4246-91C6-7384BF57EC9A}"/>
              </a:ext>
            </a:extLst>
          </p:cNvPr>
          <p:cNvSpPr txBox="1"/>
          <p:nvPr/>
        </p:nvSpPr>
        <p:spPr>
          <a:xfrm>
            <a:off x="3512408" y="2517649"/>
            <a:ext cx="3330764" cy="58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33"/>
              </a:lnSpc>
              <a:spcBef>
                <a:spcPct val="0"/>
              </a:spcBef>
            </a:pPr>
            <a:r>
              <a:rPr lang="en-US" sz="3381" b="1" dirty="0">
                <a:latin typeface="Montserrat Bold"/>
                <a:ea typeface="Montserrat Bold"/>
                <a:cs typeface="Montserrat Bold"/>
                <a:sym typeface="Montserrat Bold"/>
              </a:rPr>
              <a:t>TAHAPAN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EF62F5C-7C24-4486-9AF1-DB15C0887A41}"/>
              </a:ext>
            </a:extLst>
          </p:cNvPr>
          <p:cNvSpPr txBox="1"/>
          <p:nvPr/>
        </p:nvSpPr>
        <p:spPr>
          <a:xfrm>
            <a:off x="926450" y="3418598"/>
            <a:ext cx="7745367" cy="272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418" lvl="1" indent="-15120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000" dirty="0" err="1">
                <a:ea typeface="Montserrat"/>
                <a:cs typeface="Montserrat"/>
                <a:sym typeface="Montserrat"/>
              </a:rPr>
              <a:t>Normalisasi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Embedding =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Vektor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dinormalisasi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agar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siap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digunakan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IndexFlatIP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.</a:t>
            </a:r>
          </a:p>
          <a:p>
            <a:pPr marL="302418" lvl="1" indent="-15120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000" dirty="0">
                <a:ea typeface="Montserrat"/>
                <a:cs typeface="Montserrat"/>
                <a:sym typeface="Montserrat"/>
              </a:rPr>
              <a:t>Build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IndexFlatIP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= FAISS index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dibangun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inner product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mengukur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similarity.</a:t>
            </a:r>
          </a:p>
          <a:p>
            <a:pPr marL="302418" lvl="1" indent="-151209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000" dirty="0" err="1">
                <a:ea typeface="Montserrat"/>
                <a:cs typeface="Montserrat"/>
                <a:sym typeface="Montserrat"/>
              </a:rPr>
              <a:t>Simpan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Index = Index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disimpan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ke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disk agar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dapat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digunakan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kembali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tanpa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 proses </a:t>
            </a:r>
            <a:r>
              <a:rPr lang="en-US" sz="2000" dirty="0" err="1">
                <a:ea typeface="Montserrat"/>
                <a:cs typeface="Montserrat"/>
                <a:sym typeface="Montserrat"/>
              </a:rPr>
              <a:t>ulang</a:t>
            </a:r>
            <a:r>
              <a:rPr lang="en-US" sz="20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0006388-FEA5-4FCE-B776-7EB99336E793}"/>
              </a:ext>
            </a:extLst>
          </p:cNvPr>
          <p:cNvSpPr txBox="1"/>
          <p:nvPr/>
        </p:nvSpPr>
        <p:spPr>
          <a:xfrm>
            <a:off x="11201400" y="2463804"/>
            <a:ext cx="4465247" cy="580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33"/>
              </a:lnSpc>
              <a:spcBef>
                <a:spcPct val="0"/>
              </a:spcBef>
            </a:pPr>
            <a:r>
              <a:rPr lang="en-US" sz="3381" b="1" dirty="0">
                <a:latin typeface="Montserrat Bold"/>
                <a:ea typeface="Montserrat Bold"/>
                <a:cs typeface="Montserrat Bold"/>
                <a:sym typeface="Montserrat Bold"/>
              </a:rPr>
              <a:t>SOURCE CODE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618C721-2951-4E1D-9E6E-E5C28E7D7107}"/>
              </a:ext>
            </a:extLst>
          </p:cNvPr>
          <p:cNvSpPr txBox="1"/>
          <p:nvPr/>
        </p:nvSpPr>
        <p:spPr>
          <a:xfrm>
            <a:off x="9304022" y="3434836"/>
            <a:ext cx="8278539" cy="382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faiss.normalize_L2(embeddings)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index =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faiss.IndexFlatIP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(dimension)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index.add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(embeddings)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faiss.write_index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(index, "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faiss.index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")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Penjelasan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FAISS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mempercepat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pencarian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pada 243.831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efisiensi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struktur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indeks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vektor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956341-E3D3-4A0D-B491-53E651488A35}"/>
              </a:ext>
            </a:extLst>
          </p:cNvPr>
          <p:cNvSpPr txBox="1"/>
          <p:nvPr/>
        </p:nvSpPr>
        <p:spPr>
          <a:xfrm>
            <a:off x="605790" y="1191471"/>
            <a:ext cx="9144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pencarian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ratusan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ribu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dokumen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2400" dirty="0">
              <a:solidFill>
                <a:schemeClr val="bg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29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F400F14-84BA-4556-BD25-40B4A65DC8A7}"/>
              </a:ext>
            </a:extLst>
          </p:cNvPr>
          <p:cNvSpPr txBox="1"/>
          <p:nvPr/>
        </p:nvSpPr>
        <p:spPr>
          <a:xfrm>
            <a:off x="609600" y="657600"/>
            <a:ext cx="9597440" cy="82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9"/>
              </a:lnSpc>
            </a:pPr>
            <a:r>
              <a:rPr lang="en-US" sz="547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DENSE SEMANTIC SEARCH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37BF983-46EC-4B99-A5DC-E78A3D20A865}"/>
              </a:ext>
            </a:extLst>
          </p:cNvPr>
          <p:cNvSpPr txBox="1"/>
          <p:nvPr/>
        </p:nvSpPr>
        <p:spPr>
          <a:xfrm>
            <a:off x="1055415" y="1793748"/>
            <a:ext cx="7833269" cy="382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Contoh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Query: "Masjid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Istiqlal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"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Proses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Pencarian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</a:t>
            </a:r>
          </a:p>
          <a:p>
            <a:pPr marL="331221" lvl="1" indent="-16561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Query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diubah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menjadi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model</a:t>
            </a:r>
          </a:p>
          <a:p>
            <a:pPr marL="331221" lvl="1" indent="-16561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Query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dibandingkan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seluruh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FAISS</a:t>
            </a:r>
          </a:p>
          <a:p>
            <a:pPr marL="331221" lvl="1" indent="-165610" algn="l">
              <a:lnSpc>
                <a:spcPct val="150000"/>
              </a:lnSpc>
              <a:spcBef>
                <a:spcPct val="0"/>
              </a:spcBef>
              <a:buAutoNum type="arabicPeriod"/>
            </a:pPr>
            <a:r>
              <a:rPr lang="en-US" sz="2400" dirty="0">
                <a:ea typeface="Montserrat"/>
                <a:cs typeface="Montserrat"/>
                <a:sym typeface="Montserrat"/>
              </a:rPr>
              <a:t>FAISS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mengembalikan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Top-K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paling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relevan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berdasarkan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Inner Product Similarity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C7C0C-87EB-41A0-A32E-F63F68F85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192406"/>
            <a:ext cx="11726912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2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CB29B8-CABA-4814-9C44-C4D63F7AB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610" y="2762771"/>
            <a:ext cx="7040880" cy="476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F186EDB7-28A3-4746-A2F7-0AE9BE7071F5}"/>
              </a:ext>
            </a:extLst>
          </p:cNvPr>
          <p:cNvSpPr txBox="1"/>
          <p:nvPr/>
        </p:nvSpPr>
        <p:spPr>
          <a:xfrm>
            <a:off x="533400" y="648056"/>
            <a:ext cx="12042153" cy="76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7"/>
              </a:lnSpc>
            </a:pPr>
            <a:r>
              <a:rPr lang="en-US" sz="5047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RINGKASAN HASIL EMBEDDING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41CB77A-2B9F-453C-A45B-A12540B0F6EF}"/>
              </a:ext>
            </a:extLst>
          </p:cNvPr>
          <p:cNvSpPr txBox="1"/>
          <p:nvPr/>
        </p:nvSpPr>
        <p:spPr>
          <a:xfrm>
            <a:off x="9426031" y="3168396"/>
            <a:ext cx="8557169" cy="2158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Perbandingan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waktu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keempat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model pada 243.831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masjid Indonesia.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mencatatkan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waktu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tercepat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(35.20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)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dimensi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terkecil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(384),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sedangkan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BGE-M3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membutuhkan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waktu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terlama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(116.40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)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dimensi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1024.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FED53898-2F95-4032-BE4D-622E123A82C0}"/>
              </a:ext>
            </a:extLst>
          </p:cNvPr>
          <p:cNvSpPr txBox="1"/>
          <p:nvPr/>
        </p:nvSpPr>
        <p:spPr>
          <a:xfrm>
            <a:off x="9388817" y="6012929"/>
            <a:ext cx="7471689" cy="233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Tabel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Waktu Embedding:</a:t>
            </a:r>
          </a:p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BGE-M3  — 1024 dim — 116.40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E5-Large — 1024 dim — 107.21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MPNet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  —  768 dim —  49.57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 —  384 dim —  35.20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endParaRPr lang="en-US" sz="2400" dirty="0"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07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Kesimpulan: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paling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cepat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; BGE-M3 paling lama</a:t>
            </a:r>
          </a:p>
        </p:txBody>
      </p:sp>
    </p:spTree>
    <p:extLst>
      <p:ext uri="{BB962C8B-B14F-4D97-AF65-F5344CB8AC3E}">
        <p14:creationId xmlns:p14="http://schemas.microsoft.com/office/powerpoint/2010/main" val="306159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21553A8-DE7A-4D41-AF2C-5D438095D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78" y="1535174"/>
            <a:ext cx="8143875" cy="663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E9ED0000-8176-45FA-A4F5-CD0B7D81D33A}"/>
              </a:ext>
            </a:extLst>
          </p:cNvPr>
          <p:cNvSpPr txBox="1"/>
          <p:nvPr/>
        </p:nvSpPr>
        <p:spPr>
          <a:xfrm>
            <a:off x="457200" y="642953"/>
            <a:ext cx="12042153" cy="76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7"/>
              </a:lnSpc>
            </a:pPr>
            <a:r>
              <a:rPr lang="en-US" sz="5047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PERBANDINGAN SIMILARITY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4BCC2051-7384-4BDB-8CE2-37D59C91C68B}"/>
              </a:ext>
            </a:extLst>
          </p:cNvPr>
          <p:cNvSpPr txBox="1"/>
          <p:nvPr/>
        </p:nvSpPr>
        <p:spPr>
          <a:xfrm>
            <a:off x="10129860" y="5295057"/>
            <a:ext cx="7833269" cy="4374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Tabel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Average Similarity Top-1: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BGE-M3  →  0.8690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E5-Large  →  0.9590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MPNet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 →  0.9644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 →  0.9417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Metrik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similarity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dihitung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berdasarkan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cosine similarity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antara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query embedding dan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FAISS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IndexFlatIP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84317A3-4859-4484-B576-8F9FB44914FB}"/>
              </a:ext>
            </a:extLst>
          </p:cNvPr>
          <p:cNvSpPr txBox="1"/>
          <p:nvPr/>
        </p:nvSpPr>
        <p:spPr>
          <a:xfrm>
            <a:off x="12405" y="7934715"/>
            <a:ext cx="9753743" cy="1604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Semakin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nilai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similarity,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semakin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relevan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yang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ditemukan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terhadap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query.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MPNet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mencapai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similarity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(0.9644),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diikuti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E5-Large (0.9590),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(0.9417), dan BGE-M3 (0.8690).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42305-63A4-4A38-B17D-279CA7AF0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860" y="1909839"/>
            <a:ext cx="208626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43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4D539FF4-A43D-48AF-B322-40DC3D0A80EC}"/>
              </a:ext>
            </a:extLst>
          </p:cNvPr>
          <p:cNvSpPr txBox="1"/>
          <p:nvPr/>
        </p:nvSpPr>
        <p:spPr>
          <a:xfrm>
            <a:off x="533400" y="623315"/>
            <a:ext cx="12042153" cy="67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27"/>
              </a:lnSpc>
            </a:pPr>
            <a:r>
              <a:rPr lang="en-US" sz="443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EVALUASI: QUERY DIMENANGKAN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3F5309-9F8E-42E1-AE79-6BA31FE76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83611"/>
            <a:ext cx="653415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38030697-1648-4FC8-9B8B-89E17371BFD9}"/>
              </a:ext>
            </a:extLst>
          </p:cNvPr>
          <p:cNvSpPr txBox="1"/>
          <p:nvPr/>
        </p:nvSpPr>
        <p:spPr>
          <a:xfrm>
            <a:off x="9494611" y="2956138"/>
            <a:ext cx="7833269" cy="4374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Tabel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Jumlah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Query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Dimenangkan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BGE-M3: 0 query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E5-Large: 5 query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MPNet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13 query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•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2 query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Total query yang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dievaluasi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: 20 query.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Perbandingan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dilakukan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berdasarkan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similarity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pada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setiap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query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menentukan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model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terbaik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398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8287543" cy="175564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ectangle 2"/>
          <p:cNvSpPr/>
          <p:nvPr/>
        </p:nvSpPr>
        <p:spPr>
          <a:xfrm>
            <a:off x="1" y="1755648"/>
            <a:ext cx="18287543" cy="76200"/>
          </a:xfrm>
          <a:prstGeom prst="rect">
            <a:avLst/>
          </a:prstGeom>
          <a:solidFill>
            <a:srgbClr val="16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960120" y="2263140"/>
            <a:ext cx="8023860" cy="67208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TextBox 12"/>
          <p:cNvSpPr txBox="1"/>
          <p:nvPr/>
        </p:nvSpPr>
        <p:spPr>
          <a:xfrm>
            <a:off x="754380" y="9669781"/>
            <a:ext cx="12344400" cy="246221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5B6B7B"/>
                </a:solidFill>
                <a:latin typeface="Calibri"/>
              </a:rPr>
              <a:t>Kelompok 2  •  Advanced Information Retrieval  •  Dense Retrieval dengan FAISS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D4C7520C-9953-40E8-B726-FE4B16D1949F}"/>
              </a:ext>
            </a:extLst>
          </p:cNvPr>
          <p:cNvSpPr txBox="1"/>
          <p:nvPr/>
        </p:nvSpPr>
        <p:spPr>
          <a:xfrm>
            <a:off x="-2057400" y="565022"/>
            <a:ext cx="1144290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KESIMPULAN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A31E2557-4240-45DE-8789-C49A1315DF7E}"/>
              </a:ext>
            </a:extLst>
          </p:cNvPr>
          <p:cNvSpPr/>
          <p:nvPr/>
        </p:nvSpPr>
        <p:spPr>
          <a:xfrm>
            <a:off x="1179650" y="2619669"/>
            <a:ext cx="1447374" cy="1447374"/>
          </a:xfrm>
          <a:custGeom>
            <a:avLst/>
            <a:gdLst/>
            <a:ahLst/>
            <a:cxnLst/>
            <a:rect l="l" t="t" r="r" b="b"/>
            <a:pathLst>
              <a:path w="1447374" h="1447374">
                <a:moveTo>
                  <a:pt x="0" y="0"/>
                </a:moveTo>
                <a:lnTo>
                  <a:pt x="1447374" y="0"/>
                </a:lnTo>
                <a:lnTo>
                  <a:pt x="1447374" y="1447374"/>
                </a:lnTo>
                <a:lnTo>
                  <a:pt x="0" y="144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4BF9C20-DCF8-4443-80BD-1E59129CF98A}"/>
              </a:ext>
            </a:extLst>
          </p:cNvPr>
          <p:cNvSpPr txBox="1"/>
          <p:nvPr/>
        </p:nvSpPr>
        <p:spPr>
          <a:xfrm>
            <a:off x="3581926" y="3222894"/>
            <a:ext cx="4873500" cy="271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ea typeface="Montserrat"/>
                <a:cs typeface="Montserrat"/>
                <a:sym typeface="Montserrat"/>
              </a:rPr>
              <a:t>Dataset 243.831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masjid Indonesia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berhasil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diubah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menjadi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vektor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4 model: BGE-M3, E5-Large,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MPNet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, dan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01B8B13D-B40A-4305-8564-1097EC3E5941}"/>
              </a:ext>
            </a:extLst>
          </p:cNvPr>
          <p:cNvSpPr txBox="1"/>
          <p:nvPr/>
        </p:nvSpPr>
        <p:spPr>
          <a:xfrm>
            <a:off x="1239835" y="3082545"/>
            <a:ext cx="1203294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3A965BA-874E-4BE0-A4E6-65BEF619433C}"/>
              </a:ext>
            </a:extLst>
          </p:cNvPr>
          <p:cNvSpPr txBox="1"/>
          <p:nvPr/>
        </p:nvSpPr>
        <p:spPr>
          <a:xfrm>
            <a:off x="3565630" y="2729993"/>
            <a:ext cx="4873500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Dataset &amp; Embedding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EFA9ADBB-AC83-4104-9308-909373BAAA32}"/>
              </a:ext>
            </a:extLst>
          </p:cNvPr>
          <p:cNvSpPr/>
          <p:nvPr/>
        </p:nvSpPr>
        <p:spPr>
          <a:xfrm>
            <a:off x="1068433" y="6262749"/>
            <a:ext cx="1447374" cy="1447374"/>
          </a:xfrm>
          <a:custGeom>
            <a:avLst/>
            <a:gdLst/>
            <a:ahLst/>
            <a:cxnLst/>
            <a:rect l="l" t="t" r="r" b="b"/>
            <a:pathLst>
              <a:path w="1447374" h="1447374">
                <a:moveTo>
                  <a:pt x="0" y="0"/>
                </a:moveTo>
                <a:lnTo>
                  <a:pt x="1447374" y="0"/>
                </a:lnTo>
                <a:lnTo>
                  <a:pt x="1447374" y="1447375"/>
                </a:lnTo>
                <a:lnTo>
                  <a:pt x="0" y="1447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D3DA80F-A1BF-4034-96D0-2AE6AD202D2E}"/>
              </a:ext>
            </a:extLst>
          </p:cNvPr>
          <p:cNvSpPr txBox="1"/>
          <p:nvPr/>
        </p:nvSpPr>
        <p:spPr>
          <a:xfrm>
            <a:off x="3620175" y="6944494"/>
            <a:ext cx="4873500" cy="215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MPNet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memperoleh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rata-rata similarity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tertinggi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sebesar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0.9644,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menjadikannya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model paling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akurat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dalam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menemukan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relevan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97A85248-5ECF-4403-AE5D-61D220A4185C}"/>
              </a:ext>
            </a:extLst>
          </p:cNvPr>
          <p:cNvSpPr txBox="1"/>
          <p:nvPr/>
        </p:nvSpPr>
        <p:spPr>
          <a:xfrm>
            <a:off x="1179650" y="6763418"/>
            <a:ext cx="1203294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AE4317C7-C2BF-4AF6-A138-B457F75C8434}"/>
              </a:ext>
            </a:extLst>
          </p:cNvPr>
          <p:cNvSpPr txBox="1"/>
          <p:nvPr/>
        </p:nvSpPr>
        <p:spPr>
          <a:xfrm>
            <a:off x="3600682" y="6388211"/>
            <a:ext cx="4873500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Model </a:t>
            </a:r>
            <a:r>
              <a:rPr lang="en-US" sz="2400" b="1" dirty="0" err="1">
                <a:ea typeface="Montserrat Heavy"/>
                <a:cs typeface="Montserrat Heavy"/>
                <a:sym typeface="Montserrat Heavy"/>
              </a:rPr>
              <a:t>Terbaik</a:t>
            </a: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: </a:t>
            </a:r>
            <a:r>
              <a:rPr lang="en-US" sz="2400" b="1" dirty="0" err="1">
                <a:ea typeface="Montserrat Heavy"/>
                <a:cs typeface="Montserrat Heavy"/>
                <a:sym typeface="Montserrat Heavy"/>
              </a:rPr>
              <a:t>MPNet</a:t>
            </a:r>
            <a:endParaRPr lang="en-US" sz="2400" b="1" dirty="0">
              <a:ea typeface="Montserrat Heavy"/>
              <a:cs typeface="Montserrat Heavy"/>
              <a:sym typeface="Montserrat Heavy"/>
            </a:endParaRPr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9FE1232E-A543-416E-9308-06D3515884FB}"/>
              </a:ext>
            </a:extLst>
          </p:cNvPr>
          <p:cNvSpPr/>
          <p:nvPr/>
        </p:nvSpPr>
        <p:spPr>
          <a:xfrm>
            <a:off x="9510300" y="2632943"/>
            <a:ext cx="1447374" cy="1447374"/>
          </a:xfrm>
          <a:custGeom>
            <a:avLst/>
            <a:gdLst/>
            <a:ahLst/>
            <a:cxnLst/>
            <a:rect l="l" t="t" r="r" b="b"/>
            <a:pathLst>
              <a:path w="1447374" h="1447374">
                <a:moveTo>
                  <a:pt x="0" y="0"/>
                </a:moveTo>
                <a:lnTo>
                  <a:pt x="1447374" y="0"/>
                </a:lnTo>
                <a:lnTo>
                  <a:pt x="1447374" y="1447374"/>
                </a:lnTo>
                <a:lnTo>
                  <a:pt x="0" y="1447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A94A99F8-1238-4B63-AEC1-74C9A106CEC0}"/>
              </a:ext>
            </a:extLst>
          </p:cNvPr>
          <p:cNvSpPr txBox="1"/>
          <p:nvPr/>
        </p:nvSpPr>
        <p:spPr>
          <a:xfrm>
            <a:off x="11353800" y="3227899"/>
            <a:ext cx="4873500" cy="215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Seluruh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berhasil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diindeks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menggunakan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FAISS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IndexFlatIP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 Dense Retrieval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terbukti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efektif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menemukan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dokumen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relevan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secara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semantik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886C6EF-901E-4DAF-BCEF-7DC1E49D597B}"/>
              </a:ext>
            </a:extLst>
          </p:cNvPr>
          <p:cNvSpPr txBox="1"/>
          <p:nvPr/>
        </p:nvSpPr>
        <p:spPr>
          <a:xfrm>
            <a:off x="9567243" y="3081585"/>
            <a:ext cx="1203294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1004C007-8548-4856-B2AF-7F90FE60D3B6}"/>
              </a:ext>
            </a:extLst>
          </p:cNvPr>
          <p:cNvSpPr txBox="1"/>
          <p:nvPr/>
        </p:nvSpPr>
        <p:spPr>
          <a:xfrm>
            <a:off x="11353800" y="2729993"/>
            <a:ext cx="4873500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FAISS Indexing</a:t>
            </a:r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345F5229-7D06-4E45-9B75-A28AD00C4D44}"/>
              </a:ext>
            </a:extLst>
          </p:cNvPr>
          <p:cNvSpPr/>
          <p:nvPr/>
        </p:nvSpPr>
        <p:spPr>
          <a:xfrm>
            <a:off x="9510300" y="6151362"/>
            <a:ext cx="1447374" cy="1447374"/>
          </a:xfrm>
          <a:custGeom>
            <a:avLst/>
            <a:gdLst/>
            <a:ahLst/>
            <a:cxnLst/>
            <a:rect l="l" t="t" r="r" b="b"/>
            <a:pathLst>
              <a:path w="1447374" h="1447374">
                <a:moveTo>
                  <a:pt x="0" y="0"/>
                </a:moveTo>
                <a:lnTo>
                  <a:pt x="1447374" y="0"/>
                </a:lnTo>
                <a:lnTo>
                  <a:pt x="1447374" y="1447375"/>
                </a:lnTo>
                <a:lnTo>
                  <a:pt x="0" y="1447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7199A3C6-3E38-4FBB-8942-4B55EF6253C4}"/>
              </a:ext>
            </a:extLst>
          </p:cNvPr>
          <p:cNvSpPr txBox="1"/>
          <p:nvPr/>
        </p:nvSpPr>
        <p:spPr>
          <a:xfrm>
            <a:off x="11385909" y="6661661"/>
            <a:ext cx="4873500" cy="215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 err="1">
                <a:ea typeface="Montserrat"/>
                <a:cs typeface="Montserrat"/>
                <a:sym typeface="Montserrat"/>
              </a:rPr>
              <a:t>MiniLM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merupakan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model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tercepat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dengan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waktu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embedding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hanya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35.20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detik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(384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dimensi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), ideal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untuk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kebutuhan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efisiensi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ea typeface="Montserrat"/>
                <a:cs typeface="Montserrat"/>
                <a:sym typeface="Montserrat"/>
              </a:rPr>
              <a:t>komputasi</a:t>
            </a:r>
            <a:r>
              <a:rPr lang="en-US" sz="2400" dirty="0"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D5CAB9B2-50F1-4682-B3DE-3A64CE75F1C9}"/>
              </a:ext>
            </a:extLst>
          </p:cNvPr>
          <p:cNvSpPr txBox="1"/>
          <p:nvPr/>
        </p:nvSpPr>
        <p:spPr>
          <a:xfrm>
            <a:off x="9632340" y="6603176"/>
            <a:ext cx="1203294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44538E1F-B59A-4D08-A46E-C6AFC4F3F882}"/>
              </a:ext>
            </a:extLst>
          </p:cNvPr>
          <p:cNvSpPr txBox="1"/>
          <p:nvPr/>
        </p:nvSpPr>
        <p:spPr>
          <a:xfrm>
            <a:off x="11369960" y="6164922"/>
            <a:ext cx="4873500" cy="4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Model </a:t>
            </a:r>
            <a:r>
              <a:rPr lang="en-US" sz="2400" b="1" dirty="0" err="1">
                <a:ea typeface="Montserrat Heavy"/>
                <a:cs typeface="Montserrat Heavy"/>
                <a:sym typeface="Montserrat Heavy"/>
              </a:rPr>
              <a:t>Tercepat</a:t>
            </a:r>
            <a:r>
              <a:rPr lang="en-US" sz="2400" b="1" dirty="0">
                <a:ea typeface="Montserrat Heavy"/>
                <a:cs typeface="Montserrat Heavy"/>
                <a:sym typeface="Montserrat Heavy"/>
              </a:rPr>
              <a:t>: </a:t>
            </a:r>
            <a:r>
              <a:rPr lang="en-US" sz="2400" b="1" dirty="0" err="1">
                <a:ea typeface="Montserrat Heavy"/>
                <a:cs typeface="Montserrat Heavy"/>
                <a:sym typeface="Montserrat Heavy"/>
              </a:rPr>
              <a:t>MiniLM</a:t>
            </a:r>
            <a:endParaRPr lang="en-US" sz="2400" b="1" dirty="0">
              <a:ea typeface="Montserrat Heavy"/>
              <a:cs typeface="Montserrat Heavy"/>
              <a:sym typeface="Montserrat Heavy"/>
            </a:endParaRPr>
          </a:p>
        </p:txBody>
      </p:sp>
    </p:spTree>
    <p:extLst>
      <p:ext uri="{BB962C8B-B14F-4D97-AF65-F5344CB8AC3E}">
        <p14:creationId xmlns:p14="http://schemas.microsoft.com/office/powerpoint/2010/main" val="48221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18527" y="-1745836"/>
            <a:ext cx="6304087" cy="6304087"/>
          </a:xfrm>
          <a:custGeom>
            <a:avLst/>
            <a:gdLst/>
            <a:ahLst/>
            <a:cxnLst/>
            <a:rect l="l" t="t" r="r" b="b"/>
            <a:pathLst>
              <a:path w="6304087" h="6304087">
                <a:moveTo>
                  <a:pt x="0" y="0"/>
                </a:moveTo>
                <a:lnTo>
                  <a:pt x="6304087" y="0"/>
                </a:lnTo>
                <a:lnTo>
                  <a:pt x="6304087" y="6304087"/>
                </a:lnTo>
                <a:lnTo>
                  <a:pt x="0" y="6304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152044" y="6693351"/>
            <a:ext cx="6304087" cy="6304087"/>
          </a:xfrm>
          <a:custGeom>
            <a:avLst/>
            <a:gdLst/>
            <a:ahLst/>
            <a:cxnLst/>
            <a:rect l="l" t="t" r="r" b="b"/>
            <a:pathLst>
              <a:path w="6304087" h="6304087">
                <a:moveTo>
                  <a:pt x="0" y="0"/>
                </a:moveTo>
                <a:lnTo>
                  <a:pt x="6304088" y="0"/>
                </a:lnTo>
                <a:lnTo>
                  <a:pt x="6304088" y="6304087"/>
                </a:lnTo>
                <a:lnTo>
                  <a:pt x="0" y="6304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582766" y="8637780"/>
            <a:ext cx="371170" cy="1479303"/>
          </a:xfrm>
          <a:custGeom>
            <a:avLst/>
            <a:gdLst/>
            <a:ahLst/>
            <a:cxnLst/>
            <a:rect l="l" t="t" r="r" b="b"/>
            <a:pathLst>
              <a:path w="371170" h="1479303">
                <a:moveTo>
                  <a:pt x="0" y="0"/>
                </a:moveTo>
                <a:lnTo>
                  <a:pt x="371171" y="0"/>
                </a:lnTo>
                <a:lnTo>
                  <a:pt x="371171" y="1479303"/>
                </a:lnTo>
                <a:lnTo>
                  <a:pt x="0" y="1479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141220" y="9220200"/>
            <a:ext cx="5118080" cy="34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41"/>
              </a:lnSpc>
            </a:pPr>
            <a:r>
              <a:rPr lang="en-US" sz="20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Presentasi Oleh Kelompok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6177" y="3759461"/>
            <a:ext cx="11455646" cy="157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41"/>
              </a:lnSpc>
            </a:pPr>
            <a:r>
              <a:rPr lang="en-US" sz="9244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 KASIH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5B4FB1-3D41-4BE4-AAB1-F5C82F7919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77" y="397518"/>
            <a:ext cx="1076843" cy="1008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936</Words>
  <Application>Microsoft Office PowerPoint</Application>
  <PresentationFormat>Custom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League Spartan</vt:lpstr>
      <vt:lpstr>Calibri</vt:lpstr>
      <vt:lpstr>Montserrat Bold</vt:lpstr>
      <vt:lpstr>Symbol</vt:lpstr>
      <vt:lpstr>Montserrat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Presentasi</dc:title>
  <cp:lastModifiedBy>User</cp:lastModifiedBy>
  <cp:revision>22</cp:revision>
  <dcterms:created xsi:type="dcterms:W3CDTF">2006-08-16T00:00:00Z</dcterms:created>
  <dcterms:modified xsi:type="dcterms:W3CDTF">2026-07-17T12:44:58Z</dcterms:modified>
  <dc:identifier>DAHPga-miuI</dc:identifier>
</cp:coreProperties>
</file>